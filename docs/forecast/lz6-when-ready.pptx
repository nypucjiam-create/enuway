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07f505a3aa4282" /><Relationship Type="http://schemas.openxmlformats.org/officeDocument/2006/relationships/extended-properties" Target="/docProps/app.xml" Id="Ra7e2c2c80e764c7b" /><Relationship Type="http://schemas.openxmlformats.org/officeDocument/2006/relationships/officeDocument" Target="/ppt/presentation.xml" Id="R87b919139f734d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14d6915a3441f5"/>
  </p:sldMasterIdLst>
  <p:notesMasterIdLst>
    <p:notesMasterId xmlns:r="http://schemas.openxmlformats.org/officeDocument/2006/relationships" r:id="R1fd36c36875e4392"/>
  </p:notesMasterIdLst>
  <p:sldIdLst>
    <p:sldId xmlns:r="http://schemas.openxmlformats.org/officeDocument/2006/relationships" id="256" r:id="Rb18b3648a28545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275236d2814245" /><Relationship Type="http://schemas.openxmlformats.org/officeDocument/2006/relationships/slideMaster" Target="/ppt/slideMasters/slideMaster1.xml" Id="Re914d6915a3441f5" /><Relationship Type="http://schemas.openxmlformats.org/officeDocument/2006/relationships/notesMaster" Target="/ppt/notesMasters/notesMaster1.xml" Id="R1fd36c36875e4392" /><Relationship Type="http://schemas.openxmlformats.org/officeDocument/2006/relationships/presProps" Target="/ppt/presProps.xml" Id="R7c390b08419c4b2a" /><Relationship Type="http://schemas.openxmlformats.org/officeDocument/2006/relationships/tableStyles" Target="/ppt/tableStyles.xml" Id="R6d263953b7a2471f" /><Relationship Type="http://schemas.openxmlformats.org/officeDocument/2006/relationships/slide" Target="/ppt/slides/slide1.xml" Id="Rb18b3648a28545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6efcccac2c4d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1c7886ac3d4fe7" /><Relationship Type="http://schemas.openxmlformats.org/officeDocument/2006/relationships/notesMaster" Target="/ppt/notesMasters/notesMaster1.xml" Id="Rfef67882bdaf41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https://github.com/pallets/click. Выгрузка закрытых issues через GitHub Search API за 06.04.2026–04.10.2026. Модель: bootstrap недельного throughput, 10 000 прогонов, seed 20261008, backlog 18 элементов. P50 15.11.2026, P70 22.11.2026, P85 29.11.2026, P95 13.12.2026.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1dd843664c46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3a7ada85584873" /><Relationship Type="http://schemas.openxmlformats.org/officeDocument/2006/relationships/slideLayout" Target="/ppt/slideLayouts/slideLayout1.xml" Id="R6296961a41db48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96961a41db48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cf6ac0811b4cbc" /><Relationship Type="http://schemas.openxmlformats.org/officeDocument/2006/relationships/chart" Target="/ppt/slides/charts/chart1.xml" Id="Rf3b8afe1bda74572" /><Relationship Type="http://schemas.openxmlformats.org/officeDocument/2006/relationships/notesSlide" Target="/ppt/notesSlides/notesSlide1.xml" Id="Rb32d527ec4884b8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Вероятность завершения, %</c:v>
          </c:tx>
          <c:spPr>
            <a:solidFill xmlns:a="http://schemas.openxmlformats.org/drawingml/2006/main">
              <a:srgbClr val="1F4E78"/>
            </a:solidFill>
            <a:ln xmlns:a="http://schemas.openxmlformats.org/drawingml/2006/main" w="38100">
              <a:solidFill>
                <a:srgbClr val="1F4E78"/>
              </a:solidFill>
            </a:ln>
          </c:spPr>
          <c:marker>
            <c:symbol val="none"/>
          </c:marker>
          <c:cat>
            <c:numRef>
              <c:f>'Chart Data'!$A$2:$A$5</c:f>
              <c:numCache>
                <c:formatCode>General</c:formatCode>
                <c:ptCount val="4"/>
                <c:pt idx="0">
                  <c:v>15.11</c:v>
                </c:pt>
                <c:pt idx="1">
                  <c:v>22.11</c:v>
                </c:pt>
                <c:pt idx="2">
                  <c:v>29.11</c:v>
                </c:pt>
                <c:pt idx="3">
                  <c:v>13.12</c:v>
                </c:pt>
              </c:numCache>
            </c:num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50</c:v>
                </c:pt>
                <c:pt idx="1">
                  <c:v>70</c:v>
                </c:pt>
                <c:pt idx="2">
                  <c:v>85</c:v>
                </c:pt>
                <c:pt idx="3">
                  <c:v>95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42D123-A4A7-4F15-A4BF-0096EDAF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Когда будет готов ENUWay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9D8EBC-375B-48CB-9A35-AF75E803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35466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435466"/>
                </a:solidFill>
                <a:latin typeface="Arial"/>
                <a:ea typeface="Arial"/>
                <a:cs typeface="Arial"/>
              </a:rPr>
              <a:t>Прогноз для backlog из 18 элементов по 10 000 симуляциям Монте-Карло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28650" y="1695450"/>
          <a:ext xmlns:a="http://schemas.openxmlformats.org/drawingml/2006/main" cx="6572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3b8afe1bda74572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D7C1C6-1045-4577-A12E-51D4E54E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1450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4E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4E78"/>
                </a:solidFill>
                <a:latin typeface="Arial"/>
                <a:ea typeface="Arial"/>
                <a:cs typeface="Arial"/>
              </a:rPr>
              <a:t>РЕКОМЕНДУЕМЫЙ ОРИЕНТИР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8BFD7C-9931-4284-A774-C9E47CA2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14550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29 ноября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488652-6C69-401B-B85A-D058CAB9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33700"/>
            <a:ext cx="3476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07A3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07A3F"/>
                </a:solidFill>
                <a:latin typeface="Arial"/>
                <a:ea typeface="Arial"/>
                <a:cs typeface="Arial"/>
              </a:rPr>
              <a:t>85% вероятность завершить к этой дате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99783A-296A-4D81-9D9C-0019C11A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00450"/>
            <a:ext cx="352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253746"/>
                </a:solidFill>
                <a:latin typeface="Arial"/>
                <a:ea typeface="Arial"/>
                <a:cs typeface="Arial"/>
              </a:rPr>
              <a:t>Рабочий диапазон P50–P85</a:t>
            </a:r>
          </a:p>
          <a:p xmlns:a="http://schemas.openxmlformats.org/drawingml/2006/main">
            <a:pPr>
              <a:defRPr sz="1425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253746"/>
                </a:solidFill>
                <a:latin typeface="Arial"/>
                <a:ea typeface="Arial"/>
                <a:cs typeface="Arial"/>
              </a:rPr>
              <a:t>15–29 ноября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E657C6-A8F0-449D-B7B7-3C8E880A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91025"/>
            <a:ext cx="3714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26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475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33475B"/>
                </a:solidFill>
                <a:latin typeface="Arial"/>
                <a:ea typeface="Arial"/>
                <a:cs typeface="Arial"/>
              </a:rPr>
              <a:t>Допущения</a:t>
            </a:r>
          </a:p>
          <a:p xmlns:a="http://schemas.openxmlformats.org/drawingml/2006/main">
            <a:pPr>
              <a:defRPr sz="1275">
                <a:solidFill>
                  <a:srgbClr val="33475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33475B"/>
                </a:solidFill>
                <a:latin typeface="Arial"/>
                <a:ea typeface="Arial"/>
                <a:cs typeface="Arial"/>
              </a:rPr>
              <a:t>Объём остаётся равным 18 элементам. Состав команды не меняется. Недельный throughput следует историческому распределению.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2C70B2-56AE-4EEA-8048-39E9DBE9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Прогноз изменят новый scope, внешние блокировки, изменение состава команды или устойчивое изменение throughput.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11C8FB-B778-47B2-A1B5-9A6C8347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738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27384"/>
                </a:solidFill>
                <a:latin typeface="Arial"/>
                <a:ea typeface="Arial"/>
                <a:cs typeface="Arial"/>
              </a:rPr>
              <a:t>Источник истории: 106 закрытых issues Pallets Click, 26 недель, 06.04–04.10.2026. Внешний proxy для учебного прогноза.</a:t>
            </a:r>
          </a:p>
        </p:txBody>
      </p:sp>
    </p:spTree>
    <p:extLst>
      <p:ext uri="{BB962C8B-B14F-4D97-AF65-F5344CB8AC3E}">
        <p14:creationId xmlns:p14="http://schemas.microsoft.com/office/powerpoint/2010/main" val="2110955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2026-10-08T10:37:45.7940000Z</dcterms:created>
  <dcterms:modified xsi:type="dcterms:W3CDTF">2026-10-08T10:37:45.7950000Z</dcterms:modified>
</coreProperties>
</file>